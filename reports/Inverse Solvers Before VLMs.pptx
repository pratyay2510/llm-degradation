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1828800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81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RESEARCH UPDATE · SEPTEMBER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286000"/>
            <a:ext cx="1056406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7F6F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Inverse solvers in front of VLMs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4160520"/>
            <a:ext cx="10564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E0F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Measurement-accurate image understanding under degradation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PAPER 1 OF 4 · AAAI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1440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Robust-R1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1783080"/>
            <a:ext cx="105640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MLLM first </a:t>
            </a:r>
            <a:pPr indent="0" marL="0">
              <a:buNone/>
            </a:pPr>
            <a:r>
              <a:rPr lang="en-US" sz="2200" b="1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describes the degradation in text</a:t>
            </a:r>
            <a:pPr indent="0" marL="0">
              <a:buNone/>
            </a:pPr>
            <a:r>
              <a:rPr lang="en-US" sz="2200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(type, strength, what it hides) and then answers.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3816" y="292608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" y="3090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414016" y="3063240"/>
            <a:ext cx="89638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SFT on structured reasoning chains, then RL rewards for correct degradation parameters and for reasoning length that grows with severity.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3816" y="393192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4096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14016" y="4069080"/>
            <a:ext cx="89638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11K A-OKVQA images with synthetic degradations across acquisition, transmission, environment and post-processing.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" y="493776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5102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14016" y="5074920"/>
            <a:ext cx="89638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State of the art on R-Bench; smaller accuracy drops on MMMB, MMStar and RealWorldQA under degradation.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" y="594360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" y="6217920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Tang et al., arXiv 2512.17532 · No pixels are restored; robustness comes from text reasoning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PAPER 2 OF 4 · ICML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1440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Robust-U1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1783080"/>
            <a:ext cx="105640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MLLM </a:t>
            </a:r>
            <a:pPr indent="0" marL="0">
              <a:buNone/>
            </a:pPr>
            <a:r>
              <a:rPr lang="en-US" sz="2200" b="1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restores the corrupted image itself</a:t>
            </a:r>
            <a:pPr indent="0" marL="0">
              <a:buNone/>
            </a:pPr>
            <a:r>
              <a:rPr lang="en-US" sz="2200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then answers from both the corrupted and the restored image.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3816" y="292608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" y="3090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414016" y="3063240"/>
            <a:ext cx="89638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SFT for reconstruction, then RL with SSIM and CLIP rewards, then reasoning over both images. There is no forward operator.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3816" y="393192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4096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14016" y="4069080"/>
            <a:ext cx="89638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State of the art on R-Bench and adversarial VQA. Recovery helps only when it is task-aligned: SFT adds 6.5 dB PSNR for +0.02 R-Bench, and RL adds 0.6 dB for +0.12 to 0.14.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" y="493776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5102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COST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14016" y="5074920"/>
            <a:ext cx="89638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55.0 s and 33 GB per R-Bench sample, against 1.8 s for a standard MLLM.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" y="594360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" y="6217920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Tang et al., arXiv 2606.08063 · Lists physics-based priors (known blur kernels, noise models) as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PAPER 3 OF 4 · ARXIV PREPRINT, UNDER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1440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O-Bench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1783080"/>
            <a:ext cx="105640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benchmark that tests whether MLLMs </a:t>
            </a:r>
            <a:pPr indent="0" marL="0">
              <a:buNone/>
            </a:pPr>
            <a:r>
              <a:rPr lang="en-US" sz="2200" b="1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understand what is hidden behind an occluder</a:t>
            </a:r>
            <a:pPr indent="0" marL="0">
              <a:buNone/>
            </a:pPr>
            <a:r>
              <a:rPr lang="en-US" sz="2200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3816" y="292608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" y="3090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414016" y="3063240"/>
            <a:ext cx="89638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1,365 layered composites built from SA-1B, so every hidden part has ground truth, and 4,588 QA pairs.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3816" y="393192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4096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TASKS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14016" y="4069080"/>
            <a:ext cx="89638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Who occludes whom, whether something is occluded, the hidden object's full appearance, reasoning about it, and what fraction is hidden.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" y="493776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5102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14016" y="5074920"/>
            <a:ext cx="89638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All 22 MLLMs fall well short of humans, and neither scale nor thinking closes the gap. They are over-conservative, fragile at completing shapes and weak on quantities.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" y="594360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" y="6217920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Liu et al., arXiv 2508.04059 · For us: occlusion is a degradation with known ground truth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PAPER 4 OF 4 · ARXIV PREPRINT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1440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DocIntent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1783080"/>
            <a:ext cx="105640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training-free agent that restores a degraded document </a:t>
            </a:r>
            <a:pPr indent="0" marL="0">
              <a:buNone/>
            </a:pPr>
            <a:r>
              <a:rPr lang="en-US" sz="2200" b="1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only as much as the question needs</a:t>
            </a:r>
            <a:pPr indent="0" marL="0">
              <a:buNone/>
            </a:pPr>
            <a:r>
              <a:rPr lang="en-US" sz="2200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3816" y="292608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" y="3090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RESTORE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414016" y="3063240"/>
            <a:ext cx="89638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MLLM checks whether it can answer. If not, it picks the degradation that hurts most and calls a restoration tool.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3816" y="393192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4096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ROLL BACK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14016" y="4069080"/>
            <a:ext cx="89638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It compares the images before and after the step. If the evidence got harder to read, it undoes the step and disables that tool.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" y="493776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5102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DA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14016" y="5074920"/>
            <a:ext cx="89638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Higher score and consistency on WildDoc for open and closed MLLMs, with no image-quality model or degradation classifier.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" y="594360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" y="6217920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Huang et al., arXiv 2608.29037 · Restoration is judged by the question, not by PSNR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B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1188720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1F4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TWO QUESTIONS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828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819656" y="1920240"/>
            <a:ext cx="955822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B1F4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Can we fit an inverse solver in front of the VLM for measurement-accurate image understanding under degraded conditions?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4023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819656" y="4114800"/>
            <a:ext cx="95582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B1F4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How do we deal with the latency?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Where the literature is now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508760"/>
            <a:ext cx="105640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Everyone agrees a better-looking image does not mean a better answer. They disagree on the fix.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3816" y="2560320"/>
            <a:ext cx="3338474" cy="2011680"/>
          </a:xfrm>
          <a:prstGeom prst="rect">
            <a:avLst/>
          </a:prstGeom>
          <a:solidFill>
            <a:srgbClr val="E6ECF6"/>
          </a:solidFill>
          <a:ln w="12700">
            <a:solidFill>
              <a:srgbClr val="E6E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788920"/>
            <a:ext cx="2789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Reason about it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3337560"/>
            <a:ext cx="27898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Robust-R1: describe the degradation in text; restore nothing.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26610" y="2560320"/>
            <a:ext cx="3338474" cy="2011680"/>
          </a:xfrm>
          <a:prstGeom prst="rect">
            <a:avLst/>
          </a:prstGeom>
          <a:solidFill>
            <a:srgbClr val="E6ECF6"/>
          </a:solidFill>
          <a:ln w="12700">
            <a:solidFill>
              <a:srgbClr val="E6E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0930" y="2788920"/>
            <a:ext cx="2789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Rebuild it inside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700930" y="3337560"/>
            <a:ext cx="27898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Robust-U1: the MLLM regenerates its own input, tuned by reward.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39405" y="2560320"/>
            <a:ext cx="3338474" cy="2011680"/>
          </a:xfrm>
          <a:prstGeom prst="rect">
            <a:avLst/>
          </a:prstGeom>
          <a:solidFill>
            <a:srgbClr val="E6ECF6"/>
          </a:solidFill>
          <a:ln w="12700">
            <a:solidFill>
              <a:srgbClr val="E6E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13725" y="2788920"/>
            <a:ext cx="2789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Restore on demand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13725" y="3337560"/>
            <a:ext cx="27898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DocIntent: call tools only when the question needs them.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" y="4937760"/>
            <a:ext cx="10564063" cy="822960"/>
          </a:xfrm>
          <a:prstGeom prst="rect">
            <a:avLst/>
          </a:prstGeom>
          <a:solidFill>
            <a:srgbClr val="0B1F4A"/>
          </a:solidFill>
          <a:ln w="12700">
            <a:solidFill>
              <a:srgbClr val="0B1F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88136" y="4937760"/>
            <a:ext cx="100154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1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Missing: </a:t>
            </a:r>
            <a:pPr indent="0" marL="0">
              <a:buNone/>
            </a:pPr>
            <a:r>
              <a:rPr lang="en-US" sz="1800" dirty="0">
                <a:solidFill>
                  <a:srgbClr val="F7F6F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none of them checks whether the evidence for the answer survived in the measurement.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other direction: VLMs helping inverse solvers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600200"/>
          <a:ext cx="10564063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377440"/>
                <a:gridCol w="5717743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7F6F1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Paper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7F6F1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Venue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7F6F1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What the text or VLM does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45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TReg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45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ICLR 2025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45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Text prompt regularizes a latent diffusion solver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45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FlowDPS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45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ICCV 2025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45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VLM captions condition DPS in an SD3 flow model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45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LD-RPS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45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ICCV 2025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45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MLLM caption guides recurrent posterior sampling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45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LADiBI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45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NeurIPS 2025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45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Prompts plus an estimated operator in a T2I solver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45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AgenticIR, JarvisIR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45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ICLR 2025, CVPR 2025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45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VLM plans which restoration tools to run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3816" y="4937760"/>
            <a:ext cx="10564063" cy="822960"/>
          </a:xfrm>
          <a:prstGeom prst="rect">
            <a:avLst/>
          </a:prstGeom>
          <a:solidFill>
            <a:srgbClr val="0B1F4A"/>
          </a:solidFill>
          <a:ln w="12700">
            <a:solidFill>
              <a:srgbClr val="0B1F4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88136" y="4937760"/>
            <a:ext cx="100154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1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output is always an image. </a:t>
            </a:r>
            <a:pPr indent="0" marL="0">
              <a:buNone/>
            </a:pPr>
            <a:r>
              <a:rPr lang="en-US" sz="1800" dirty="0">
                <a:solidFill>
                  <a:srgbClr val="F7F6F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VLM helps the restoration, but no one asks the VLM a question about the result.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Where we step in: flip the arrow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3816" y="1737360"/>
            <a:ext cx="1783629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C1C6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23544" y="1737360"/>
            <a:ext cx="156417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Degraded measurement 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652309" y="2331720"/>
            <a:ext cx="301752" cy="0"/>
          </a:xfrm>
          <a:prstGeom prst="line">
            <a:avLst/>
          </a:prstGeom>
          <a:noFill/>
          <a:ln w="25400">
            <a:solidFill>
              <a:srgbClr val="003DA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008925" y="1737360"/>
            <a:ext cx="1783629" cy="1188720"/>
          </a:xfrm>
          <a:prstGeom prst="roundRect">
            <a:avLst>
              <a:gd name="adj" fmla="val 6154"/>
            </a:avLst>
          </a:prstGeom>
          <a:solidFill>
            <a:srgbClr val="FFB81C"/>
          </a:solidFill>
          <a:ln w="19050">
            <a:solidFill>
              <a:srgbClr val="FFB8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18653" y="1737360"/>
            <a:ext cx="156417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4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Inverse solver: forward model + prior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47417" y="2331720"/>
            <a:ext cx="301752" cy="0"/>
          </a:xfrm>
          <a:prstGeom prst="line">
            <a:avLst/>
          </a:prstGeom>
          <a:noFill/>
          <a:ln w="25400">
            <a:solidFill>
              <a:srgbClr val="003DA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04033" y="1737360"/>
            <a:ext cx="1783629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C1C6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13761" y="1737360"/>
            <a:ext cx="156417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Posterior samples of x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2526" y="2331720"/>
            <a:ext cx="301752" cy="0"/>
          </a:xfrm>
          <a:prstGeom prst="line">
            <a:avLst/>
          </a:prstGeom>
          <a:noFill/>
          <a:ln w="25400">
            <a:solidFill>
              <a:srgbClr val="003DA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99142" y="1737360"/>
            <a:ext cx="1783629" cy="1188720"/>
          </a:xfrm>
          <a:prstGeom prst="roundRect">
            <a:avLst>
              <a:gd name="adj" fmla="val 6154"/>
            </a:avLst>
          </a:prstGeom>
          <a:solidFill>
            <a:srgbClr val="003DA5"/>
          </a:solidFill>
          <a:ln w="19050">
            <a:solidFill>
              <a:srgbClr val="003DA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08870" y="1737360"/>
            <a:ext cx="156417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6F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VLM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37635" y="2331720"/>
            <a:ext cx="301752" cy="0"/>
          </a:xfrm>
          <a:prstGeom prst="line">
            <a:avLst/>
          </a:prstGeom>
          <a:noFill/>
          <a:ln w="25400">
            <a:solidFill>
              <a:srgbClr val="003DA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594251" y="1737360"/>
            <a:ext cx="1783629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C1C6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03979" y="1737360"/>
            <a:ext cx="156417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B4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Answer and whether y supports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3816" y="3474720"/>
            <a:ext cx="3338474" cy="2011680"/>
          </a:xfrm>
          <a:prstGeom prst="rect">
            <a:avLst/>
          </a:prstGeom>
          <a:solidFill>
            <a:srgbClr val="E6ECF6"/>
          </a:solidFill>
          <a:ln w="12700">
            <a:solidFill>
              <a:srgbClr val="E6EC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88136" y="3703320"/>
            <a:ext cx="2789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Consistent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" y="4251960"/>
            <a:ext cx="27898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Every reconstruction agrees with y through the forward model.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26610" y="3474720"/>
            <a:ext cx="3338474" cy="2011680"/>
          </a:xfrm>
          <a:prstGeom prst="rect">
            <a:avLst/>
          </a:prstGeom>
          <a:solidFill>
            <a:srgbClr val="E6ECF6"/>
          </a:solidFill>
          <a:ln w="12700">
            <a:solidFill>
              <a:srgbClr val="E6EC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0930" y="3703320"/>
            <a:ext cx="2789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Answer-driven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700930" y="4251960"/>
            <a:ext cx="27898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Judge the solver by answer accuracy, not PSNR.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39405" y="3474720"/>
            <a:ext cx="3338474" cy="2011680"/>
          </a:xfrm>
          <a:prstGeom prst="rect">
            <a:avLst/>
          </a:prstGeom>
          <a:solidFill>
            <a:srgbClr val="E6ECF6"/>
          </a:solidFill>
          <a:ln w="12700">
            <a:solidFill>
              <a:srgbClr val="E6EC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13725" y="3703320"/>
            <a:ext cx="2789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Honest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313725" y="4251960"/>
            <a:ext cx="27898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If answers disagree across samples, the evidence did not survive.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immediate problems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3816" y="160020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13816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Latency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465576" y="1755648"/>
            <a:ext cx="79123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Robust-U1 already takes 55.0 s per sample, against 1.8 s for a plain MLLM. A DPS-style solver needs hundreds of denoising steps, multiplied by the number of posterior samples.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" y="265176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Unknown operator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465576" y="2807208"/>
            <a:ext cx="79123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Real degradations (R-Bench, WildDoc) have no known forward model. We either estimate it, as LADiBI does, or start with known operators.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" y="370332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Inside vs outside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65576" y="3858768"/>
            <a:ext cx="79123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Robust-U1 claims restoring inside the MLLM beats an external restorer, but it compares different base models. We need a controlled test.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" y="475488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" y="4892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DA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right metric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465576" y="4910328"/>
            <a:ext cx="79123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55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PSNR barely moves answers. We report answer accuracy, harmful answer flips and the share of answers the measurement determines.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" y="5806440"/>
            <a:ext cx="10564063" cy="0"/>
          </a:xfrm>
          <a:prstGeom prst="line">
            <a:avLst/>
          </a:prstGeom>
          <a:noFill/>
          <a:ln w="12700">
            <a:solidFill>
              <a:srgbClr val="C1C6C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Inverse Solvers Before VLMs</dc:title>
  <dc:subject>PptxGenJS Presentation</dc:subject>
  <dc:creator>PptxGenJS</dc:creator>
  <cp:lastModifiedBy>PptxGenJS</cp:lastModifiedBy>
  <cp:revision>1</cp:revision>
  <dcterms:created xsi:type="dcterms:W3CDTF">2026-09-25T23:19:01Z</dcterms:created>
  <dcterms:modified xsi:type="dcterms:W3CDTF">2026-09-25T23:19:01Z</dcterms:modified>
</cp:coreProperties>
</file>